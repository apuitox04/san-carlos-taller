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be6b866c31498a" /><Relationship Type="http://schemas.openxmlformats.org/officeDocument/2006/relationships/extended-properties" Target="/docProps/app.xml" Id="R10c63d46c4d34705" /><Relationship Type="http://schemas.openxmlformats.org/officeDocument/2006/relationships/officeDocument" Target="/ppt/presentation.xml" Id="Re149f412f4cd4c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6417c6842a46a2"/>
  </p:sldMasterIdLst>
  <p:notesMasterIdLst>
    <p:notesMasterId xmlns:r="http://schemas.openxmlformats.org/officeDocument/2006/relationships" r:id="R6b2ef0fb1b2e446a"/>
  </p:notesMasterIdLst>
  <p:sldIdLst>
    <p:sldId xmlns:r="http://schemas.openxmlformats.org/officeDocument/2006/relationships" id="256" r:id="R422c1dc591fa45af"/>
    <p:sldId xmlns:r="http://schemas.openxmlformats.org/officeDocument/2006/relationships" id="257" r:id="Rd4302053b2ce4e62"/>
    <p:sldId xmlns:r="http://schemas.openxmlformats.org/officeDocument/2006/relationships" id="258" r:id="R111884c51199486a"/>
    <p:sldId xmlns:r="http://schemas.openxmlformats.org/officeDocument/2006/relationships" id="259" r:id="R7ae4b53fd4ec4772"/>
    <p:sldId xmlns:r="http://schemas.openxmlformats.org/officeDocument/2006/relationships" id="260" r:id="R66020b0ee7ec46ba"/>
    <p:sldId xmlns:r="http://schemas.openxmlformats.org/officeDocument/2006/relationships" id="261" r:id="R51ced5db17414bcc"/>
    <p:sldId xmlns:r="http://schemas.openxmlformats.org/officeDocument/2006/relationships" id="262" r:id="R33e0731d928a494c"/>
    <p:sldId xmlns:r="http://schemas.openxmlformats.org/officeDocument/2006/relationships" id="263" r:id="Reb047a52c25d4392"/>
    <p:sldId xmlns:r="http://schemas.openxmlformats.org/officeDocument/2006/relationships" id="264" r:id="R617db8daaf194c9a"/>
    <p:sldId xmlns:r="http://schemas.openxmlformats.org/officeDocument/2006/relationships" id="265" r:id="R46d1dbbe525e4401"/>
    <p:sldId xmlns:r="http://schemas.openxmlformats.org/officeDocument/2006/relationships" id="266" r:id="Rb39e3618996b425e"/>
    <p:sldId xmlns:r="http://schemas.openxmlformats.org/officeDocument/2006/relationships" id="267" r:id="R336827dc29c948bb"/>
    <p:sldId xmlns:r="http://schemas.openxmlformats.org/officeDocument/2006/relationships" id="268" r:id="R5534338c3b1e44b7"/>
    <p:sldId xmlns:r="http://schemas.openxmlformats.org/officeDocument/2006/relationships" id="269" r:id="Rf88927134a0842ff"/>
    <p:sldId xmlns:r="http://schemas.openxmlformats.org/officeDocument/2006/relationships" id="270" r:id="Rff9f3969bd404c47"/>
    <p:sldId xmlns:r="http://schemas.openxmlformats.org/officeDocument/2006/relationships" id="271" r:id="R3ad69e29a80f432b"/>
    <p:sldId xmlns:r="http://schemas.openxmlformats.org/officeDocument/2006/relationships" id="272" r:id="R92849885b4524ca4"/>
    <p:sldId xmlns:r="http://schemas.openxmlformats.org/officeDocument/2006/relationships" id="273" r:id="R4bc10bc789514275"/>
    <p:sldId xmlns:r="http://schemas.openxmlformats.org/officeDocument/2006/relationships" id="274" r:id="R30ac26f0ba224f88"/>
    <p:sldId xmlns:r="http://schemas.openxmlformats.org/officeDocument/2006/relationships" id="275" r:id="Rc1c14babcd0a419c"/>
    <p:sldId xmlns:r="http://schemas.openxmlformats.org/officeDocument/2006/relationships" id="276" r:id="R1d67eda022b14d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0dee2494684fb6" /><Relationship Type="http://schemas.openxmlformats.org/officeDocument/2006/relationships/slideMaster" Target="/ppt/slideMasters/slideMaster1.xml" Id="Ra96417c6842a46a2" /><Relationship Type="http://schemas.openxmlformats.org/officeDocument/2006/relationships/notesMaster" Target="/ppt/notesMasters/notesMaster1.xml" Id="R6b2ef0fb1b2e446a" /><Relationship Type="http://schemas.openxmlformats.org/officeDocument/2006/relationships/presProps" Target="/ppt/presProps.xml" Id="R69937a10b8f14f8c" /><Relationship Type="http://schemas.openxmlformats.org/officeDocument/2006/relationships/tableStyles" Target="/ppt/tableStyles.xml" Id="Re51414e754fc4362" /><Relationship Type="http://schemas.openxmlformats.org/officeDocument/2006/relationships/slide" Target="/ppt/slides/slide1.xml" Id="R422c1dc591fa45af" /><Relationship Type="http://schemas.openxmlformats.org/officeDocument/2006/relationships/slide" Target="/ppt/slides/slide2.xml" Id="Rd4302053b2ce4e62" /><Relationship Type="http://schemas.openxmlformats.org/officeDocument/2006/relationships/slide" Target="/ppt/slides/slide3.xml" Id="R111884c51199486a" /><Relationship Type="http://schemas.openxmlformats.org/officeDocument/2006/relationships/slide" Target="/ppt/slides/slide4.xml" Id="R7ae4b53fd4ec4772" /><Relationship Type="http://schemas.openxmlformats.org/officeDocument/2006/relationships/slide" Target="/ppt/slides/slide5.xml" Id="R66020b0ee7ec46ba" /><Relationship Type="http://schemas.openxmlformats.org/officeDocument/2006/relationships/slide" Target="/ppt/slides/slide6.xml" Id="R51ced5db17414bcc" /><Relationship Type="http://schemas.openxmlformats.org/officeDocument/2006/relationships/slide" Target="/ppt/slides/slide7.xml" Id="R33e0731d928a494c" /><Relationship Type="http://schemas.openxmlformats.org/officeDocument/2006/relationships/slide" Target="/ppt/slides/slide8.xml" Id="Reb047a52c25d4392" /><Relationship Type="http://schemas.openxmlformats.org/officeDocument/2006/relationships/slide" Target="/ppt/slides/slide9.xml" Id="R617db8daaf194c9a" /><Relationship Type="http://schemas.openxmlformats.org/officeDocument/2006/relationships/slide" Target="/ppt/slides/slide10.xml" Id="R46d1dbbe525e4401" /><Relationship Type="http://schemas.openxmlformats.org/officeDocument/2006/relationships/slide" Target="/ppt/slides/slide11.xml" Id="Rb39e3618996b425e" /><Relationship Type="http://schemas.openxmlformats.org/officeDocument/2006/relationships/slide" Target="/ppt/slides/slide12.xml" Id="R336827dc29c948bb" /><Relationship Type="http://schemas.openxmlformats.org/officeDocument/2006/relationships/slide" Target="/ppt/slides/slide13.xml" Id="R5534338c3b1e44b7" /><Relationship Type="http://schemas.openxmlformats.org/officeDocument/2006/relationships/slide" Target="/ppt/slides/slide14.xml" Id="Rf88927134a0842ff" /><Relationship Type="http://schemas.openxmlformats.org/officeDocument/2006/relationships/slide" Target="/ppt/slides/slide15.xml" Id="Rff9f3969bd404c47" /><Relationship Type="http://schemas.openxmlformats.org/officeDocument/2006/relationships/slide" Target="/ppt/slides/slide16.xml" Id="R3ad69e29a80f432b" /><Relationship Type="http://schemas.openxmlformats.org/officeDocument/2006/relationships/slide" Target="/ppt/slides/slide17.xml" Id="R92849885b4524ca4" /><Relationship Type="http://schemas.openxmlformats.org/officeDocument/2006/relationships/slide" Target="/ppt/slides/slide18.xml" Id="R4bc10bc789514275" /><Relationship Type="http://schemas.openxmlformats.org/officeDocument/2006/relationships/slide" Target="/ppt/slides/slide19.xml" Id="R30ac26f0ba224f88" /><Relationship Type="http://schemas.openxmlformats.org/officeDocument/2006/relationships/slide" Target="/ppt/slides/slide20.xml" Id="Rc1c14babcd0a419c" /><Relationship Type="http://schemas.openxmlformats.org/officeDocument/2006/relationships/slide" Target="/ppt/slides/slide21.xml" Id="R1d67eda022b14d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4fcfdc7f5646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553abe2fee4377" /><Relationship Type="http://schemas.openxmlformats.org/officeDocument/2006/relationships/notesMaster" Target="/ppt/notesMasters/notesMaster1.xml" Id="R9696581020ad45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93122363cb412a" /><Relationship Type="http://schemas.openxmlformats.org/officeDocument/2006/relationships/notesMaster" Target="/ppt/notesMasters/notesMaster1.xml" Id="R8fed60526dfe43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62075a2b544312" /><Relationship Type="http://schemas.openxmlformats.org/officeDocument/2006/relationships/notesMaster" Target="/ppt/notesMasters/notesMaster1.xml" Id="R638905fbb4dd42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9461a2fe854e43" /><Relationship Type="http://schemas.openxmlformats.org/officeDocument/2006/relationships/notesMaster" Target="/ppt/notesMasters/notesMaster1.xml" Id="Rfee92be601054c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cc6f86ad644c01" /><Relationship Type="http://schemas.openxmlformats.org/officeDocument/2006/relationships/notesMaster" Target="/ppt/notesMasters/notesMaster1.xml" Id="R03605efa8dce4e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9f46cf0dc54b0d" /><Relationship Type="http://schemas.openxmlformats.org/officeDocument/2006/relationships/notesMaster" Target="/ppt/notesMasters/notesMaster1.xml" Id="R82ec8334e81d4a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bd8238dc294073" /><Relationship Type="http://schemas.openxmlformats.org/officeDocument/2006/relationships/notesMaster" Target="/ppt/notesMasters/notesMaster1.xml" Id="R0dad4aef65f049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de7bd0e6454c36" /><Relationship Type="http://schemas.openxmlformats.org/officeDocument/2006/relationships/notesMaster" Target="/ppt/notesMasters/notesMaster1.xml" Id="R0cabda4d3f5241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bce11f84834985" /><Relationship Type="http://schemas.openxmlformats.org/officeDocument/2006/relationships/notesMaster" Target="/ppt/notesMasters/notesMaster1.xml" Id="Rd9e1e91cc41342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978472569a42bb" /><Relationship Type="http://schemas.openxmlformats.org/officeDocument/2006/relationships/notesMaster" Target="/ppt/notesMasters/notesMaster1.xml" Id="R1956042413ff47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4521e448bc42ba" /><Relationship Type="http://schemas.openxmlformats.org/officeDocument/2006/relationships/notesMaster" Target="/ppt/notesMasters/notesMaster1.xml" Id="Rc9c92e016e0b42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9c0e0a5e5e48f6" /><Relationship Type="http://schemas.openxmlformats.org/officeDocument/2006/relationships/notesMaster" Target="/ppt/notesMasters/notesMaster1.xml" Id="Rb4df72c9a3dd4f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8c495c4a4b4a15" /><Relationship Type="http://schemas.openxmlformats.org/officeDocument/2006/relationships/notesMaster" Target="/ppt/notesMasters/notesMaster1.xml" Id="R2ba59f0d87d640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1f3ff6fc2c40f7" /><Relationship Type="http://schemas.openxmlformats.org/officeDocument/2006/relationships/notesMaster" Target="/ppt/notesMasters/notesMaster1.xml" Id="Rf85c47d5d88747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e8cea893dd44f2" /><Relationship Type="http://schemas.openxmlformats.org/officeDocument/2006/relationships/notesMaster" Target="/ppt/notesMasters/notesMaster1.xml" Id="R32198bcf3b4f41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ebdd0641a14c78" /><Relationship Type="http://schemas.openxmlformats.org/officeDocument/2006/relationships/notesMaster" Target="/ppt/notesMasters/notesMaster1.xml" Id="R73d795f9ae2440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d8557eda4d476b" /><Relationship Type="http://schemas.openxmlformats.org/officeDocument/2006/relationships/notesMaster" Target="/ppt/notesMasters/notesMaster1.xml" Id="Refd60d3ca37d48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386d4ff94e4052" /><Relationship Type="http://schemas.openxmlformats.org/officeDocument/2006/relationships/notesMaster" Target="/ppt/notesMasters/notesMaster1.xml" Id="R919ec5f34ab640c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b401b9b21c4da1" /><Relationship Type="http://schemas.openxmlformats.org/officeDocument/2006/relationships/notesMaster" Target="/ppt/notesMasters/notesMaster1.xml" Id="R346843885db74e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70df7025e24c15" /><Relationship Type="http://schemas.openxmlformats.org/officeDocument/2006/relationships/notesMaster" Target="/ppt/notesMasters/notesMaster1.xml" Id="Rf819b3219cb146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933814e8654d54" /><Relationship Type="http://schemas.openxmlformats.org/officeDocument/2006/relationships/notesMaster" Target="/ppt/notesMasters/notesMaster1.xml" Id="Rca3ede85e1ec4e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0–2 min. Idea: Drones y agricultura de precisión. Demostración de PIX4Dmatic Pro y PIX4Dfields Universidad Técnica Nacional Administración Agroindustrial</a:t>
            </a:r>
          </a:p>
          <a:p xmlns:a="http://schemas.openxmlformats.org/drawingml/2006/main">
            <a:r>
              <a:t>Fuentes: R01: https://www.utn.ac.cr/content/administracion-agroindustrial</a:t>
            </a:r>
          </a:p>
          <a:p xmlns:a="http://schemas.openxmlformats.org/drawingml/2006/main">
            <a:r>
              <a:t>R07: https://support.pix4d.com/hc/en-us/articles/360000235126.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2–5 min. Idea: Objetivo del taller. Elegir un producto para una decisión agrícola. Seguir tres casos documentados. Distinguir indicios y recomendaciones agronómicas.</a:t>
            </a:r>
          </a:p>
          <a:p xmlns:a="http://schemas.openxmlformats.org/drawingml/2006/main">
            <a:r>
              <a:t>Fuentes: R01: https://www.utn.ac.cr/content/administracion-agroindustrial.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5–15 min. Idea: Aplicaciones en la agroindustria. Producción: localizar diferencias dentro del lote. Inventarios: revisar áreas e infraestructura. Insumos: delimitar zonas para inspección.</a:t>
            </a:r>
          </a:p>
          <a:p xmlns:a="http://schemas.openxmlformats.org/drawingml/2006/main">
            <a:r>
              <a:t>Fuentes: R19: https://mag.go.cr/extension-agropecuaria/</a:t>
            </a:r>
          </a:p>
          <a:p xmlns:a="http://schemas.openxmlformats.org/drawingml/2006/main">
            <a:r>
              <a:t>R20: https://mag.go.cr/120-productores-costarricenses-desarrollan-agricultura-de-precision-en-cultivos-de-cafe-cebolla-y-pina/</a:t>
            </a:r>
          </a:p>
          <a:p xmlns:a="http://schemas.openxmlformats.org/drawingml/2006/main">
            <a:r>
              <a:t>R21: https://www.mag.go.cr/rev_agr/v45n01_067.pdf.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15–19 min. Idea: RGB y multiespectral. RGB registra el aspecto visible y permite reconstruir geometría. Red, Red Edge y NIR permiten calcular índices. El sensor depende del producto requerido.</a:t>
            </a:r>
          </a:p>
          <a:p xmlns:a="http://schemas.openxmlformats.org/drawingml/2006/main">
            <a:r>
              <a:t>Fuentes: R14: https://ag.dji.com/mavic-3-m/specs</a:t>
            </a:r>
          </a:p>
          <a:p xmlns:a="http://schemas.openxmlformats.org/drawingml/2006/main">
            <a:r>
              <a:t>R09: https://support.pix4d.com/hc/en-us/articles/360000891623.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19–23 min. Idea: DJI Mavic 3 Multispectral. RGB de 20 MP. Cuatro cámaras multiespectrales de 5 MP. Bandas G, R, RE y NIR. Posicionamiento RTK.</a:t>
            </a:r>
          </a:p>
          <a:p xmlns:a="http://schemas.openxmlformats.org/drawingml/2006/main">
            <a:r>
              <a:t>Fuentes: R14: https://ag.dji.com/mavic-3-m/specs</a:t>
            </a:r>
          </a:p>
          <a:p xmlns:a="http://schemas.openxmlformats.org/drawingml/2006/main">
            <a:r>
              <a:t>R22: https://commons.wikimedia.org/wiki/File:DJI_Mavic_3M_Multispectral_FA373WYPN9_(4-9-2024)_(cropped).jpg.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23–30 min. Idea: Planificación y control de captura. Definir resolución, cobertura y solapes. Mantener iluminación comparable y revisar desenfoque. Separar RGB y multiespectral. Comprobar metadatos. Revisar permisos, área y control de campo.</a:t>
            </a:r>
          </a:p>
          <a:p xmlns:a="http://schemas.openxmlformats.org/drawingml/2006/main">
            <a:r>
              <a:t>Fuentes: R13: https://support.pix4d.com/hc/en-us/articles/36000014121991</a:t>
            </a:r>
          </a:p>
          <a:p xmlns:a="http://schemas.openxmlformats.org/drawingml/2006/main">
            <a:r>
              <a:t>M01: https://training.pix4d.com/enrollments</a:t>
            </a:r>
          </a:p>
          <a:p xmlns:a="http://schemas.openxmlformats.org/drawingml/2006/main">
            <a:r>
              <a:t>M02: https://training.pix4d.com/enrollments.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30–33 min. Idea: Flujo fotogramétrico. Fotografías Calibración Nube y modelos Control y salida</a:t>
            </a:r>
          </a:p>
          <a:p xmlns:a="http://schemas.openxmlformats.org/drawingml/2006/main">
            <a:r>
              <a:t>Fuentes: M02: https://training.pix4d.com/enrollments</a:t>
            </a:r>
          </a:p>
          <a:p xmlns:a="http://schemas.openxmlformats.org/drawingml/2006/main">
            <a:r>
              <a:t>R05: https://support.pix4d.com/hc/en-us/articles/360044950312.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33–41 min. Idea: Fotografías y calibración. Ejemplo de trabajo: 100 imágenes de Suiza. Revisar cámaras, GCP y coordenadas. El informe acompaña los resultados.</a:t>
            </a:r>
          </a:p>
          <a:p xmlns:a="http://schemas.openxmlformats.org/drawingml/2006/main">
            <a:r>
              <a:t>Fuentes: R07: https://support.pix4d.com/hc/en-us/articles/360000235126</a:t>
            </a:r>
          </a:p>
          <a:p xmlns:a="http://schemas.openxmlformats.org/drawingml/2006/main">
            <a:r>
              <a:t>R23: https://support.pix4d.com/hc/en-us/articles/11188127036957</a:t>
            </a:r>
          </a:p>
          <a:p xmlns:a="http://schemas.openxmlformats.org/drawingml/2006/main">
            <a:r>
              <a:t>M02: https://training.pix4d.com/enrollments.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41–49 min. Idea: Nube de puntos y modelo 3D. La nube representa superficies reconstruidas. La malla conecta superficies para visualización. La calidad depende de captura y control.</a:t>
            </a:r>
          </a:p>
          <a:p xmlns:a="http://schemas.openxmlformats.org/drawingml/2006/main">
            <a:r>
              <a:t>Fuentes: R05: https://support.pix4d.com/hc/en-us/articles/360044950312</a:t>
            </a:r>
          </a:p>
          <a:p xmlns:a="http://schemas.openxmlformats.org/drawingml/2006/main">
            <a:r>
              <a:t>M02: https://training.pix4d.com/enrollments.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49–56 min. Idea: Ortomosaico y DSM. Ortomosaico: textura y posición en planta. DSM: elevación de suelo, vegetación y objetos. La altura de cultivo requiere una referencia de terreno.</a:t>
            </a:r>
          </a:p>
          <a:p xmlns:a="http://schemas.openxmlformats.org/drawingml/2006/main">
            <a:r>
              <a:t>Fuentes: R05: https://support.pix4d.com/hc/en-us/articles/360044950312</a:t>
            </a:r>
          </a:p>
          <a:p xmlns:a="http://schemas.openxmlformats.org/drawingml/2006/main">
            <a:r>
              <a:t>M02: https://training.pix4d.com/enrollments.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56–60 min. Idea: Intercambio de archivos. GeoTIFF RGB: mapa de contexto. GeoTIFF DSM: elevación de superficie. LAS o LAZ: geometría 3D para SIG y CAD. NDVI y NDRE necesitan las bandas espectrales.</a:t>
            </a:r>
          </a:p>
          <a:p xmlns:a="http://schemas.openxmlformats.org/drawingml/2006/main">
            <a:r>
              <a:t>Fuentes: R05: https://support.pix4d.com/hc/en-us/articles/360044950312</a:t>
            </a:r>
          </a:p>
          <a:p xmlns:a="http://schemas.openxmlformats.org/drawingml/2006/main">
            <a:r>
              <a:t>R06: https://support.pix4d.com/hc/en-us/articles/360000897346.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60–63 min. Idea: PIX4Dfields. Procesamiento y análisis orientados al campo. Límites, índices y estadísticas por parcela. Operaciones según la compatibilidad del terminal.</a:t>
            </a:r>
          </a:p>
          <a:p xmlns:a="http://schemas.openxmlformats.org/drawingml/2006/main">
            <a:r>
              <a:t>Fuentes: R06: https://support.pix4d.com/hc/en-us/articles/360000897346</a:t>
            </a:r>
          </a:p>
          <a:p xmlns:a="http://schemas.openxmlformats.org/drawingml/2006/main">
            <a:r>
              <a:t>R10: https://support.pix4d.com/hc/en-us/articles/4409231699345</a:t>
            </a:r>
          </a:p>
          <a:p xmlns:a="http://schemas.openxmlformats.org/drawingml/2006/main">
            <a:r>
              <a:t>R16: https://support.pix4d.com/hc/en-us/articles/360038644731.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63–69 min. Idea: NDVI y NDRE. NDVI = (NIR − Red) / (NIR + Red) NDRE = (NIR − Red Edge) / (NIR + Red Edge) Índices adimensionales. Comparar condiciones equivalentes.</a:t>
            </a:r>
          </a:p>
          <a:p xmlns:a="http://schemas.openxmlformats.org/drawingml/2006/main">
            <a:r>
              <a:t>Fuentes: R09: https://support.pix4d.com/hc/en-us/articles/360000891623</a:t>
            </a:r>
          </a:p>
          <a:p xmlns:a="http://schemas.openxmlformats.org/drawingml/2006/main">
            <a:r>
              <a:t>M01: https://training.pix4d.com/enrollments.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69–78 min. Idea: Índices y estadísticas por parcela. Guía E1: Field trial, trigo de Alemania. Comparar NDVI y NDRE sobre las mismas parcelas. La vista de apoyo muestra otro ejemplo oficial.</a:t>
            </a:r>
          </a:p>
          <a:p xmlns:a="http://schemas.openxmlformats.org/drawingml/2006/main">
            <a:r>
              <a:t>Fuentes: M01: https://training.pix4d.com/enrollments</a:t>
            </a:r>
          </a:p>
          <a:p xmlns:a="http://schemas.openxmlformats.org/drawingml/2006/main">
            <a:r>
              <a:t>R10: https://support.pix4d.com/hc/en-us/articles/4409231699345.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78–90 min. Idea: Interpretación y verificación. Un valor bajo puede tener varias causas. Revisar suelo visible, sombras y fase del cultivo. Confirmar el indicio mediante observaciones de campo. Registrar fecha, parcela y condiciones.</a:t>
            </a:r>
          </a:p>
          <a:p xmlns:a="http://schemas.openxmlformats.org/drawingml/2006/main">
            <a:r>
              <a:t>Fuentes: M01: https://training.pix4d.com/enrollments</a:t>
            </a:r>
          </a:p>
          <a:p xmlns:a="http://schemas.openxmlformats.org/drawingml/2006/main">
            <a:r>
              <a:t>R13: https://support.pix4d.com/hc/en-us/articles/36000014121991.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90–93 min. Idea: Malezas en pasturas. Targeted Operations del cuaderno oficial. Pastura australiana con zarzamora. XAG M500 RGB. La clasificación busca áreas visualmente similares.</a:t>
            </a:r>
          </a:p>
          <a:p xmlns:a="http://schemas.openxmlformats.org/drawingml/2006/main">
            <a:r>
              <a:t>Fuentes: M01: https://training.pix4d.com/enrollments.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93–101 min. Idea: Magic Tool. Definir límite y obstáculos. Marcar Wanted y Not wanted. Revisar falsos positivos y omisiones. Corregir antes de crear la operación.</a:t>
            </a:r>
          </a:p>
          <a:p xmlns:a="http://schemas.openxmlformats.org/drawingml/2006/main">
            <a:r>
              <a:t>Fuentes: R11: https://support.pix4d.com/hc/en-us/articles/7886486253213</a:t>
            </a:r>
          </a:p>
          <a:p xmlns:a="http://schemas.openxmlformats.org/drawingml/2006/main">
            <a:r>
              <a:t>M01: https://training.pix4d.com/enrollments.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101–105 min. Idea: Mapa de operación. Separar actuación y exclusión. Revisar tamaño de celda y bordes. Comprobar licencia, formato y terminal. Esta demostración no prescribe agroquímicos.</a:t>
            </a:r>
          </a:p>
          <a:p xmlns:a="http://schemas.openxmlformats.org/drawingml/2006/main">
            <a:r>
              <a:t>Fuentes: R06: https://support.pix4d.com/hc/en-us/articles/360000897346</a:t>
            </a:r>
          </a:p>
          <a:p xmlns:a="http://schemas.openxmlformats.org/drawingml/2006/main">
            <a:r>
              <a:t>R16: https://support.pix4d.com/hc/en-us/articles/360038644731</a:t>
            </a:r>
          </a:p>
          <a:p xmlns:a="http://schemas.openxmlformats.org/drawingml/2006/main">
            <a:r>
              <a:t>R17: https://support.pix4d.com/hc/en-us/articles/360019956578.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105–115 min. Idea: Decisiones de administración. Definir el problema y el costo de comprobarlo. Priorizar inspecciones con evidencia trazable. Comparar costo del servicio y beneficio medido. Asignar responsable y revisar la decisión.</a:t>
            </a:r>
          </a:p>
          <a:p xmlns:a="http://schemas.openxmlformats.org/drawingml/2006/main">
            <a:r>
              <a:t>Fuentes: R01: https://www.utn.ac.cr/content/administracion-agroindustrial</a:t>
            </a:r>
          </a:p>
          <a:p xmlns:a="http://schemas.openxmlformats.org/drawingml/2006/main">
            <a:r>
              <a:t>R19: https://mag.go.cr/extension-agropecuaria/.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115–118 min. Idea: Propuesta de curso formal. Drones y tecnologías geoespaciales aplicadas a la agroindustria 40 horas propuestas. Prácticas, interpretación y proyecto aplicado. Programa sujeto a validación de la UTN.</a:t>
            </a:r>
          </a:p>
          <a:p xmlns:a="http://schemas.openxmlformats.org/drawingml/2006/main">
            <a:r>
              <a:t>Fuentes: R01: https://www.utn.ac.cr/content/administracion-agroindustrial.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118–120 min. Idea: Cierre y preguntas. ¿Qué decisión de su actividad necesita un mapa? Defina el producto, su comprobación y el responsable. Programa, guías y referencias en el sitio.</a:t>
            </a:r>
          </a:p>
          <a:p xmlns:a="http://schemas.openxmlformats.org/drawingml/2006/main">
            <a:r>
              <a:t>Fuentes: R01: https://www.utn.ac.cr/content/administracion-agroindustrial. Consulta: 2026-10-18. Seguir Guion_instructor y guías D/E1/E2. Vistas Pix4D oficiales; esquemas son conceptuales. Captura de inicio R23 identifica interfaz 1.73.0; no es una captura de Pro 2.10.3 instalada. La vista R10 no pertenece al caso Field trial. Los proyectos nativos y exportaciones requieren ejecución y ensayo previo. No atribuir los esquemas a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297fe5ee24e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e4e6919d149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724791bf14c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af42887fb24a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57271afac94d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46fc69a4647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57C868-BF84-48EC-A47B-D7710C8A90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37097E-80A6-4412-AE8C-AC3E3945B2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B921D1-C57F-4F6B-917A-C27DF815E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D2C592-51C3-46A5-ADEE-F5E8CB289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34591E-09CA-4923-8AEA-50658BEC6B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CE261E-D298-4711-8CD2-C263A02328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FB0299-7A1E-40F4-B372-31FEF0D560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327CF6-1AD6-4299-ADBC-27DC084F97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0A3B96-3638-4CC4-AE2D-D37953B0A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0C9554-C69F-46C4-881A-98AA2B907D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f7e630ad9e441b" /><Relationship Type="http://schemas.openxmlformats.org/officeDocument/2006/relationships/slideLayout" Target="/ppt/slideLayouts/slideLayout1.xml" Id="R5b42bf14886f4da1" /><Relationship Type="http://schemas.openxmlformats.org/officeDocument/2006/relationships/slideLayout" Target="/ppt/slideLayouts/slideLayout2.xml" Id="R7c588840c60c4bec" /><Relationship Type="http://schemas.openxmlformats.org/officeDocument/2006/relationships/slideLayout" Target="/ppt/slideLayouts/slideLayout3.xml" Id="R78459c2d72be4aad" /><Relationship Type="http://schemas.openxmlformats.org/officeDocument/2006/relationships/slideLayout" Target="/ppt/slideLayouts/slideLayout4.xml" Id="Rae615115ff8545af" /><Relationship Type="http://schemas.openxmlformats.org/officeDocument/2006/relationships/slideLayout" Target="/ppt/slideLayouts/slideLayout5.xml" Id="R9e6d32147cbf4f37" /><Relationship Type="http://schemas.openxmlformats.org/officeDocument/2006/relationships/slideLayout" Target="/ppt/slideLayouts/slideLayout6.xml" Id="R60f760788de144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42bf14886f4da1"/>
    <p:sldLayoutId xmlns:r="http://schemas.openxmlformats.org/officeDocument/2006/relationships" id="2147483650" r:id="R7c588840c60c4bec"/>
    <p:sldLayoutId xmlns:r="http://schemas.openxmlformats.org/officeDocument/2006/relationships" id="2147483651" r:id="R78459c2d72be4aad"/>
    <p:sldLayoutId xmlns:r="http://schemas.openxmlformats.org/officeDocument/2006/relationships" id="2147483652" r:id="Rae615115ff8545af"/>
    <p:sldLayoutId xmlns:r="http://schemas.openxmlformats.org/officeDocument/2006/relationships" id="2147483653" r:id="R9e6d32147cbf4f37"/>
    <p:sldLayoutId xmlns:r="http://schemas.openxmlformats.org/officeDocument/2006/relationships" id="2147483654" r:id="R60f760788de144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caecc24ff4856" /><Relationship Type="http://schemas.openxmlformats.org/officeDocument/2006/relationships/image" Target="/ppt/media/image.jpeg" Id="R695322077c44414b" /><Relationship Type="http://schemas.openxmlformats.org/officeDocument/2006/relationships/image" Target="/ppt/media/image.png" Id="R76ad6ac3afe542ed" /><Relationship Type="http://schemas.openxmlformats.org/officeDocument/2006/relationships/notesSlide" Target="/ppt/notesSlides/notesSlide1.xml" Id="R7e1e8c96890d43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f71422c77d46da" /><Relationship Type="http://schemas.openxmlformats.org/officeDocument/2006/relationships/image" Target="/ppt/media/image2.png" Id="Rc920b5cefb3742a6" /><Relationship Type="http://schemas.openxmlformats.org/officeDocument/2006/relationships/notesSlide" Target="/ppt/notesSlides/notesSlide2.xml" Id="R014de9e335fc48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9b0f4f03244b4" /><Relationship Type="http://schemas.openxmlformats.org/officeDocument/2006/relationships/image" Target="/ppt/media/image3.png" Id="Rc407dc46f0424171" /><Relationship Type="http://schemas.openxmlformats.org/officeDocument/2006/relationships/image" Target="/ppt/media/image2.jpeg" Id="R2b4af79c616a4c91" /><Relationship Type="http://schemas.openxmlformats.org/officeDocument/2006/relationships/notesSlide" Target="/ppt/notesSlides/notesSlide3.xml" Id="R6d108449064a4e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a1c56c693457c" /><Relationship Type="http://schemas.openxmlformats.org/officeDocument/2006/relationships/image" Target="/ppt/media/image4.png" Id="R8dd940230c334f6b" /><Relationship Type="http://schemas.openxmlformats.org/officeDocument/2006/relationships/notesSlide" Target="/ppt/notesSlides/notesSlide4.xml" Id="R262df1b8fad44e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6bdc16baa4bab" /><Relationship Type="http://schemas.openxmlformats.org/officeDocument/2006/relationships/image" Target="/ppt/media/image5.png" Id="R337466cf85b845ec" /><Relationship Type="http://schemas.openxmlformats.org/officeDocument/2006/relationships/image" Target="/ppt/media/image3.jpeg" Id="Rdbaa8e8a2deb4181" /><Relationship Type="http://schemas.openxmlformats.org/officeDocument/2006/relationships/notesSlide" Target="/ppt/notesSlides/notesSlide5.xml" Id="Rae41c32310564e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cd473e9fef4402" /><Relationship Type="http://schemas.openxmlformats.org/officeDocument/2006/relationships/image" Target="/ppt/media/image6.png" Id="Rcddceb92157a4c3f" /><Relationship Type="http://schemas.openxmlformats.org/officeDocument/2006/relationships/notesSlide" Target="/ppt/notesSlides/notesSlide6.xml" Id="Ra4883129e78948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64e39bbf4240de" /><Relationship Type="http://schemas.openxmlformats.org/officeDocument/2006/relationships/image" Target="/ppt/media/image7.png" Id="R6ad97a4438da45ce" /><Relationship Type="http://schemas.openxmlformats.org/officeDocument/2006/relationships/notesSlide" Target="/ppt/notesSlides/notesSlide7.xml" Id="Reecc4a57a83141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ee34657ec94d6b" /><Relationship Type="http://schemas.openxmlformats.org/officeDocument/2006/relationships/image" Target="/ppt/media/image8.png" Id="Rdba7ed31a4c0412f" /><Relationship Type="http://schemas.openxmlformats.org/officeDocument/2006/relationships/image" Target="/ppt/media/image4.jpeg" Id="R63af2e809e074e6a" /><Relationship Type="http://schemas.openxmlformats.org/officeDocument/2006/relationships/notesSlide" Target="/ppt/notesSlides/notesSlide8.xml" Id="Rb63ce1eb066d4b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163a239d34e4d" /><Relationship Type="http://schemas.openxmlformats.org/officeDocument/2006/relationships/image" Target="/ppt/media/image9.png" Id="R2790c2d3d77c4186" /><Relationship Type="http://schemas.openxmlformats.org/officeDocument/2006/relationships/image" Target="/ppt/media/image5.jpeg" Id="R240eb4883de84a8e" /><Relationship Type="http://schemas.openxmlformats.org/officeDocument/2006/relationships/notesSlide" Target="/ppt/notesSlides/notesSlide9.xml" Id="Re4ca554071cf46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ca9c0d83684c84" /><Relationship Type="http://schemas.openxmlformats.org/officeDocument/2006/relationships/image" Target="/ppt/media/image10.png" Id="Ra15948bbf24940b1" /><Relationship Type="http://schemas.openxmlformats.org/officeDocument/2006/relationships/notesSlide" Target="/ppt/notesSlides/notesSlide10.xml" Id="R5e17ff0b5bd744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a51ea5b5164ba2" /><Relationship Type="http://schemas.openxmlformats.org/officeDocument/2006/relationships/image" Target="/ppt/media/image11.png" Id="R84effd328fee44e9" /><Relationship Type="http://schemas.openxmlformats.org/officeDocument/2006/relationships/notesSlide" Target="/ppt/notesSlides/notesSlide11.xml" Id="R42b8f430909448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a9e71a88044d5d" /><Relationship Type="http://schemas.openxmlformats.org/officeDocument/2006/relationships/image" Target="/ppt/media/image12.png" Id="Rc4c1ff7014a24424" /><Relationship Type="http://schemas.openxmlformats.org/officeDocument/2006/relationships/image" Target="/ppt/media/image6.jpeg" Id="R4b551020152844e1" /><Relationship Type="http://schemas.openxmlformats.org/officeDocument/2006/relationships/notesSlide" Target="/ppt/notesSlides/notesSlide12.xml" Id="Reecdf1e4e1934e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537b6569304603" /><Relationship Type="http://schemas.openxmlformats.org/officeDocument/2006/relationships/image" Target="/ppt/media/image13.png" Id="Rf67e9036968e48b7" /><Relationship Type="http://schemas.openxmlformats.org/officeDocument/2006/relationships/notesSlide" Target="/ppt/notesSlides/notesSlide13.xml" Id="R910fc572bb0648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c45dac7ce4958" /><Relationship Type="http://schemas.openxmlformats.org/officeDocument/2006/relationships/image" Target="/ppt/media/image14.png" Id="Re0344ea413d841cd" /><Relationship Type="http://schemas.openxmlformats.org/officeDocument/2006/relationships/image" Target="/ppt/media/image7.jpeg" Id="R9b0357bc857247d4" /><Relationship Type="http://schemas.openxmlformats.org/officeDocument/2006/relationships/notesSlide" Target="/ppt/notesSlides/notesSlide14.xml" Id="R1b7704ac70ef4b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58af5f5ee24bd4" /><Relationship Type="http://schemas.openxmlformats.org/officeDocument/2006/relationships/image" Target="/ppt/media/image15.png" Id="Recca0de168774c8c" /><Relationship Type="http://schemas.openxmlformats.org/officeDocument/2006/relationships/notesSlide" Target="/ppt/notesSlides/notesSlide15.xml" Id="R467929af747a48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abcaf16d154b3e" /><Relationship Type="http://schemas.openxmlformats.org/officeDocument/2006/relationships/image" Target="/ppt/media/image16.png" Id="R21010d82936549c8" /><Relationship Type="http://schemas.openxmlformats.org/officeDocument/2006/relationships/notesSlide" Target="/ppt/notesSlides/notesSlide16.xml" Id="R28e94eee65c24c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f5fcc9d944fb2" /><Relationship Type="http://schemas.openxmlformats.org/officeDocument/2006/relationships/image" Target="/ppt/media/image17.png" Id="R8375c342c17742af" /><Relationship Type="http://schemas.openxmlformats.org/officeDocument/2006/relationships/image" Target="/ppt/media/image8.jpeg" Id="Rc14d0f291fb64e6d" /><Relationship Type="http://schemas.openxmlformats.org/officeDocument/2006/relationships/image" Target="/ppt/media/image9.jpeg" Id="R76a25a2386bc451b" /><Relationship Type="http://schemas.openxmlformats.org/officeDocument/2006/relationships/notesSlide" Target="/ppt/notesSlides/notesSlide17.xml" Id="Rbc7410c430d7436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a685ff55de403e" /><Relationship Type="http://schemas.openxmlformats.org/officeDocument/2006/relationships/image" Target="/ppt/media/image18.png" Id="R3f9a1a5023ac4d35" /><Relationship Type="http://schemas.openxmlformats.org/officeDocument/2006/relationships/notesSlide" Target="/ppt/notesSlides/notesSlide18.xml" Id="Ra617b175a26e4c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61f469b1a47c5" /><Relationship Type="http://schemas.openxmlformats.org/officeDocument/2006/relationships/image" Target="/ppt/media/image19.png" Id="Rfe09cb69bffc42e9" /><Relationship Type="http://schemas.openxmlformats.org/officeDocument/2006/relationships/notesSlide" Target="/ppt/notesSlides/notesSlide19.xml" Id="Rfb6697b212d944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202b3d8fcb4f23" /><Relationship Type="http://schemas.openxmlformats.org/officeDocument/2006/relationships/image" Target="/ppt/media/image20.png" Id="R72308b135f1b4b63" /><Relationship Type="http://schemas.openxmlformats.org/officeDocument/2006/relationships/notesSlide" Target="/ppt/notesSlides/notesSlide20.xml" Id="R60a1a19d43c3436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02e2ac8b74a0c" /><Relationship Type="http://schemas.openxmlformats.org/officeDocument/2006/relationships/image" Target="/ppt/media/image21.png" Id="Rf5574d0819c34fd6" /><Relationship Type="http://schemas.openxmlformats.org/officeDocument/2006/relationships/notesSlide" Target="/ppt/notesSlides/notesSlide21.xml" Id="Rd72d25cb5f8546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64C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2A0D6-DC9E-4EEA-9627-F488F8DAD5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322077c44414b"/>
          <a:srcRect xmlns:a="http://schemas.openxmlformats.org/drawingml/2006/main" l="6923" t="0" r="6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191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85D87-870B-45D1-B3F6-00D69E82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31D4F-0D0B-4563-A6A7-7D27BDF27A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d6ac3afe542ed"/>
          <a:stretch xmlns:a="http://schemas.openxmlformats.org/drawingml/2006/main"/>
        </p:blipFill>
        <p:spPr>
          <a:xfrm xmlns:a="http://schemas.openxmlformats.org/drawingml/2006/main">
            <a:off x="571500" y="571500"/>
            <a:ext cx="2286000" cy="79095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367E7-06DE-44BF-B971-38EB80FF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TALLER DEMOSTRATIVO · 120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C0B49-895A-4B36-84AD-06074FBB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5857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Drones y agricultura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6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 precisión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16CD5-43EE-43F4-9E96-4803D6F0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5715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Demostración de PIX4Dmatic Pro y PIX4Dfields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435D2-78F5-40AE-80F9-10CF67C3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Universidad Técnica Nacional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Administración Agroindustrial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B0E64-80EE-458C-8CB8-3791B7E3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rPr>
              <a:t>UTN · Administración Agroindustrial  |  R01 · R07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5A2CA-21A6-47EF-B6A4-1DD46271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360217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64C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11B5B-BA81-4D40-83B6-61942E47E1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0b5cefb3742a6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44F46-4A0C-430A-A16A-60356BE1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2–5 MIN  / 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FD3CB-3FA1-4388-B5BB-A288D68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Objetivo del taller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EFA43-24C8-458E-871E-A7EBB754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Elegir un producto para una decisión agrícola.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834DD-1A87-4701-BE70-10166711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Seguir tres casos documentados.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E6F2B-A7EA-4DE3-A81F-168A94AE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Distinguir indicios y recomendaciones agronómicas.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0BB9B-B197-497E-9D00-CD744BDE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rPr>
              <a:t>UTN · Administración Agroindustrial  |  R01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3C639-12A4-4980-9CB4-87B89C38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6985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2608D-F8A0-44D2-8A95-2F9AA05F81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7dc46f0424171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0CEC3-EDD0-4957-9C2B-00A9FE17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5–15 MIN  / 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6E6E8-D28E-49BA-8856-EEBCCE3D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Aplicaciones en la agroindustria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5B489-E13D-4676-9085-B4B43FE1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F30DC-93DB-4FD4-918C-5383E526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Producción: localizar diferencias dentro del lote.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368A4-A8B7-41AE-A7BF-9CBA6173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C1323-FC2A-4B78-9D12-B51B25D6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Inventarios: revisar áreas e infraestructura.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CBAF9-D219-409A-95EC-99E0746B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7DD40-5ED7-44B2-8D48-D864852E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Insumos: delimitar zonas para inspección.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E601B-0FD7-4B9B-ABF0-62BD6E5AEF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af79c616a4c91"/>
          <a:stretch xmlns:a="http://schemas.openxmlformats.org/drawingml/2006/main"/>
        </p:blipFill>
        <p:spPr>
          <a:xfrm xmlns:a="http://schemas.openxmlformats.org/drawingml/2006/main">
            <a:off x="7115175" y="1952625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9C78F-2D62-42E4-BAB3-1B968D0F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Vista oficial · Courtesy of Pix4D / pix4d.com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1C589-DAAE-4C61-A2C5-9E09C5F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R19 · R20 · R21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F2516-B555-48BA-A1F6-62742152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4472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47B9E-CCA1-411B-A9D3-26E751A6C0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940230c334f6b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B485D-5B19-4842-A5C0-010EE44F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15–19 MIN  / 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39C8B-312D-4634-B077-2BA0CBBA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RGB y multiespectral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9B9A8-51CA-4B56-965A-EB4C4884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038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E0FA4-CBA1-4254-AEEE-B0DE4A90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RGB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A566D-22E0-4C3E-9E4D-45816183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43125"/>
            <a:ext cx="2038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C6FF1-DF2A-4A1F-A81D-34554270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479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02EF7-7A2B-4384-965A-2EA47C9D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43125"/>
            <a:ext cx="2038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7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4DC21-448E-4174-99A0-FD514D41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479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83B6F-3A5E-4AE1-B4C3-CA87B765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2038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53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C7533-547E-49E5-BD31-252D397D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479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38004-78DB-42F6-8DCD-484ADB54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43125"/>
            <a:ext cx="2038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F16E7-09B5-4AE4-BB6E-D9F36322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479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5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NIR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84EF4-2444-454D-A217-AAFF28FC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DE1E5-5944-4F42-81A8-635DAD31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1034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RGB registra el aspecto visible y permite reconstruir geometría.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83BAF-C702-43CA-8B3D-57211399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E9669-91F6-4F09-8B63-795D9180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1034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Red, Red Edge y NIR permiten calcular índices.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10049-B054-4009-8BFB-567ED326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5C7E92-AF4A-453C-AE80-F8E00728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1034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El sensor depende del producto requerido.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880060-CE63-460B-8A31-FDB39C31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R14 · R09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A3E49-30BF-47FA-B0B0-6F15850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2489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9C702-349C-4B66-9921-60B7CB2EE3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466cf85b845ec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F5DE2-8160-48BD-89E2-0B81EAB9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19–23 MIN  / 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A0529-5FEB-430D-B1CC-7A389B6D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DJI Mavic 3 Multispectral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50CEF-502A-426A-A75B-20F5FFEB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966D7-6B05-422A-98B3-A700E6AB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RGB de 20 MP.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020BE-8F7D-4589-B12A-F2DBDF6E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80D53-7E74-4AF2-9B5F-076981C8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Cuatro cámaras multiespectrales de 5 MP.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94FFB-B9BF-4FFC-94AE-CFBA8C73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BC965-09AC-48D7-8DF1-788085C3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Bandas G, R, RE y NIR. Posicionamiento RTK.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3D1A7-67D5-49C9-8C8A-6A1DA45B14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a8e8a2deb4181"/>
          <a:stretch xmlns:a="http://schemas.openxmlformats.org/drawingml/2006/main"/>
        </p:blipFill>
        <p:spPr>
          <a:xfrm xmlns:a="http://schemas.openxmlformats.org/drawingml/2006/main">
            <a:off x="6211148" y="1952625"/>
            <a:ext cx="5427554" cy="3619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12AC3-3248-466A-868D-8DFC24C1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Foto ZLEA · CC BY-SA 4.0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73B82-A0D7-41F2-B97D-81350E96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R14 · R22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D7AE0-4061-4307-A985-FEE97772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58740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1A38D-144B-4F5F-A6D6-DAD0ACAC3B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ceb92157a4c3f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81232-25EA-4FB9-A025-050CC8C8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23–30 MIN  / 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62393-19F3-4B53-88BE-F4D4EB6A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Planificación y control de captura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7B2A5-2E1C-48CE-962A-56ED37AE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B7659-2598-4220-9AAB-042E3703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Definir resolución, cobertura y solapes.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B24B8-C531-42AD-96C6-D98EB212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B57BB-B179-4EFF-9BEC-51F40395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Mantener iluminación comparable y revisar desenfoque.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A1047-6F7D-4B8F-88EF-1E10CF8F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E4FF6-4A97-4103-8A0D-B8E8043E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Separar RGB y multiespectral. Comprobar metadatos.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77A77-7387-43C5-BD5A-450D7D7D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D269C-077D-4254-8B76-AB47AEBB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Revisar permisos, área y control de campo.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DF834-0C72-40E8-B41A-2B749F84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R13 · M01 · M02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FF655-54AD-4B28-9C2D-401E9F78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219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7B8C2-CA98-41D8-B153-916C2B03B3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97a4438da45ce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E8061-5F34-4340-BD12-33E39F4A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30–33 MIN  /  FOTOGRAMETRÍA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3A0D0-9145-4B35-ABA9-8692B48B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Flujo fotogramétrico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B1009-E8F7-4202-A2D8-EC275E80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609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942C0-F0F9-4A60-99DC-CEAE4D3F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E1066-A969-4F3E-B252-D9ECB489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14675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Fotografías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AA54D-ACC3-445D-996A-DCC01CA9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609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F6E7B-7A81-4BE0-8E7A-13721FA7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1937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B6997-F7BD-4A6D-B117-7FD8F614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14675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Calibración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6685F-8AE0-4BFE-87AD-5B7BDD89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609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B7EF3-B3CD-4AD2-9FA3-1E400BA6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1937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DFCC2-BA76-41D9-8140-0C974BD8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14675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1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Nube y modelos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F62C8-4D8D-4156-8A97-E2DDBBFD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609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D4097-4ABE-42F2-B67D-9692514E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1937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6CB52-E95F-43A5-9957-EEA53D5C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14675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1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Control y salida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C1693-7712-49A0-9C24-845AA579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Cada salida exige comprobar su procedencia y calidad.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9177B-5EC1-46D4-8A06-A377A7C5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Diagrama original · flujo conceptual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4AC7FD-F633-40C0-932B-01F2F577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M02 · R05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E324E-D351-4C30-914A-50D3101B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14006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79B27-A18E-435E-A84F-CD9B5FAC32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7ed31a4c0412f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C3470-EF0D-4F3D-8C3B-3FDD4643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33–41 MIN  /  FOTOGRAMETRÍA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50964-65AA-43D9-9F11-89DA0FAF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Fotografías y calibración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3CDCD-C195-41C6-BE45-0439FBD5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7823C-283D-4F4A-854A-B7AC6B6E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Ejemplo de trabajo: 100 imágenes de Suiza.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88882-E4C5-4CA0-96CB-8704DCD8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EB750-8432-47AA-9DD9-FAF6E36E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Revisar cámaras, GCP y coordenadas.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C7599-08F2-4090-AE9B-3D2FC0B3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CB104-612D-4DE7-8602-ED7F428C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El informe acompaña los resultados.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6DF78-FB40-4683-9E94-C381DB6E10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f2e809e074e6a"/>
          <a:stretch xmlns:a="http://schemas.openxmlformats.org/drawingml/2006/main"/>
        </p:blipFill>
        <p:spPr>
          <a:xfrm xmlns:a="http://schemas.openxmlformats.org/drawingml/2006/main">
            <a:off x="6191250" y="2139255"/>
            <a:ext cx="5467350" cy="324623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8C044-0486-46C1-9D1A-4A4C63BF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Captura oficial R23 · interfaz 1.73.0</a:t>
            </a:r>
          </a:p>
          <a:p xmlns:a="http://schemas.openxmlformats.org/drawingml/2006/main">
            <a: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No acredita ejecución 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40234-7553-46A6-9B17-704E1CCC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R07 · R23 · M02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3F9CF-AB2B-4588-9721-15F79BE2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433090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7AA2F-3C6C-4B0B-807E-9421EE8B8C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0c2d3d77c4186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BC993-202D-4085-B7E2-EDBC49EF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41–49 MIN  /  FOTOGRAMETRÍA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5F50C-C7A0-4099-85AD-0F1D2B07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Nube de puntos y modelo 3D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B4000-EE7E-4981-AB0B-81C2C12058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eb4883de84a8e"/>
          <a:stretch xmlns:a="http://schemas.openxmlformats.org/drawingml/2006/main"/>
        </p:blipFill>
        <p:spPr>
          <a:xfrm xmlns:a="http://schemas.openxmlformats.org/drawingml/2006/main">
            <a:off x="533400" y="2049661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EE4DA-CE17-4FF6-A20B-E6B7DBC8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DE2C8-3A90-49EF-9D4F-A79409E1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43125"/>
            <a:ext cx="3771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La nube representa superficies reconstruidas.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320C2-E60A-4274-9ED8-465E396B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242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27EA8-7FFA-445F-9FD4-B1CEE7DD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24225"/>
            <a:ext cx="3771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La malla conecta superficies para visualización.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72C54-5038-4482-A1EF-631BEBA6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8222D-06E7-481B-9987-3BC4FF8D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05325"/>
            <a:ext cx="3771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La calidad depende de captura y control.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9F6CD-7B98-4C71-BA94-313FF8EF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816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12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Vista oficial de nube y cámaras · Courtesy of Pix4D / pix4d.com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E4874-C0F3-4C31-8929-43317F4A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R05 · M02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1E148-9F24-40BC-B634-2C1F0070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330777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8C7CC-8802-4684-8EA2-7AE2280400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948bbf24940b1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6A66D-61C6-440F-AC0F-09E7190D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49–56 MIN  /  FOTOGRAMETRÍA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608D4-271D-4808-B6E0-439DE0B3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Ortomosaico y DSM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5B816-189A-4E5B-9A9F-47F3B1EE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429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EE4D6-330A-4266-B3EC-A25B6993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717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rPr>
              <a:t>ORTOMOSAICO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37BBF-89CC-4CE3-9B09-157402A0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718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Ortomosaico: textura y posición en planta.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FDCAB-0E81-4B79-A7A9-59457AAA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5429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9B24C-009A-4DDE-AD2E-4A7DCF2D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717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0918C"/>
                </a:solidFill>
                <a:latin typeface="Fira Sans"/>
                <a:ea typeface="Fira Sans"/>
                <a:cs typeface="Fira Sans"/>
              </a:rPr>
              <a:t>DSM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BFF83-85AB-47A6-A9C4-479180AE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9718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32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DSM: elevación de suelo, vegetación y objetos.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1F4F0-B4B5-4C10-ABB9-9C600885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17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La altura de cultivo requiere una referencia de terreno.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7E938-CA0C-4754-B34F-337A1FFE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R05 · M02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C6223-7FFF-4024-BBAB-ACDCDA00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23000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78A2A-D89A-4E94-808F-7717BCB71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ffd328fee44e9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3985B-9AD5-4218-B08E-D3E90578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56–60 MIN  /  FOTOGRAMETRÍA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2DCCE-2F95-46BB-88E9-1F86212C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Intercambio de archivos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70E8D-C77F-44DD-B1FD-B25EED68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2964C-28EA-4351-9908-38142C9F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GeoTIFF RGB: mapa de contexto.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486E9-CC4F-4600-9B97-B428833B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1211F-8BC6-4B3F-9250-FAD40879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GeoTIFF DSM: elevación de superficie.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DAC78-7C03-484D-8B39-8ECAD7EA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B2B2A-814C-434D-B291-A313B87D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LAS o LAZ: geometría 3D para SIG y CAD.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15993-A7AD-482D-9DC1-25428A85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EF24A-D358-4954-AC2A-D76F8104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NDVI y NDRE necesitan las bandas espectrales.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060C3-9656-4D15-9959-FFE9BD82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R05 · R06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27273-3456-42EA-AB1C-C0A3D9BD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140234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B3127-E91A-41D7-A650-12544C59B6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1ff7014a24424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707D3-E33C-4790-B0A5-5E2CD7D4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60–63 MIN  /  ÍNDICES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73B1E-96B7-483D-80FB-345E453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PIX4Dfields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148B0-0C31-4C3D-8688-7A6E50ED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2F4F4-6180-4491-A340-60C68C5B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Procesamiento y análisis orientados al campo.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6150C-CC7D-4182-AFFD-6CA16F77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FED3A-5FE7-4D01-B67A-0BE5720F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Límites, índices y estadísticas por parcela.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01D8E-EFA6-4448-8828-8D469E47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731E9-DFB8-4AB4-8F81-F702AA71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Operaciones según la compatibilidad del terminal.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415E9-28E9-4703-A80F-886A3ECD76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51020152844e1"/>
          <a:stretch xmlns:a="http://schemas.openxmlformats.org/drawingml/2006/main"/>
        </p:blipFill>
        <p:spPr>
          <a:xfrm xmlns:a="http://schemas.openxmlformats.org/drawingml/2006/main">
            <a:off x="7096518" y="1952625"/>
            <a:ext cx="3656814" cy="3619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98C32-A8E7-4A7F-B22E-859713DA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Vista oficial · Courtesy of Pix4D / pix4d.com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412CD-97B5-4469-815A-9BA4D5C1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R06 · R10 · R16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4C493-F17E-45CE-BF2F-7A59EA38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958896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B9952-4B06-403B-A8D4-F11ED3E7F5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e9036968e48b7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BCE29-8C40-468B-A6C6-02C4714F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63–69 MIN  /  ÍNDICES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6783C-16FA-4455-B0AF-795936B4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NDVI y NDRE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B6F2E-ED2D-4B94-AD12-E1D2EC38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1125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38595-6226-4030-A9C7-054DE1A4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NDVI = (NIR − Red) / (NIR + Red)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FDF84-08FE-43C4-8661-FBA79C12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7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NDRE = (NIR − Red Edge) / (NIR + Red Edge)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27FE9-1134-447F-9376-33B66AAF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Índices adimensionales. Comparar condiciones equivalentes.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2ADB5-F04B-49AB-8139-970B033B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Enmascarar denominador cero y NoData. RGB no aporta NIR ni Red Edge.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C627A-F4FE-4D56-9FBC-E172B853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R09 · M01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2A6F9-FB48-40EA-9656-050C7C10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048348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BA2A8-B0DB-46E2-9E3E-B034192FA1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44ea413d841cd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C71EB-18C8-410E-A731-5B059140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69–78 MIN  /  ÍNDICES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1DE59-C9B9-400C-91D5-0D138EC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Índices y estadísticas por parcela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A1430-FC51-4E53-AA62-331ABB0BDF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357bc857247d4"/>
          <a:stretch xmlns:a="http://schemas.openxmlformats.org/drawingml/2006/main"/>
        </p:blipFill>
        <p:spPr>
          <a:xfrm xmlns:a="http://schemas.openxmlformats.org/drawingml/2006/main">
            <a:off x="1132506" y="1971675"/>
            <a:ext cx="5850288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20D8A-D67A-4018-9173-AA9A914D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431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21A06-88B9-451A-B57C-3F29C1B0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43125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Guía E1: Field trial, trigo de Alemania.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B893C-A3F6-4B4D-B24B-DC863BB5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051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B15D7-41E8-451E-AEA0-5CF2E42D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305175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Comparar NDVI y NDRE sobre las mismas parcelas.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9A1E2-26C0-48D1-A3E3-E075204A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672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4AFA3-E079-4EE9-9213-0AECEFD2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67225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La vista de apoyo muestra otro ejemplo oficial.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1266B-1CBC-4051-9F16-20693FDF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Captura oficial de R10 · Otro conjunto, distinto de Field trial.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51443-8CC1-4BAD-959E-361A37BA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M01 · R10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B811A-F5ED-4195-9316-36386FD9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453771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2DCCD-4B5A-4E63-956F-3D4B00F31C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a0de168774c8c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7498A-6706-4ED8-9B3E-58CC3D8E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78–90 MIN  /  ÍNDICES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19673-F546-4B6D-9219-4725A5F5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Interpretación y verificación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DFB8C-80E1-4B0F-8EBC-1A086258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966CB-5A37-40AF-B957-3263E0BF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Un valor bajo puede tener varias causas.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8F5EF-C6BE-4F19-9D65-4148D0F3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DFA57-B3A0-4994-AB30-F0FEDD10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Revisar suelo visible, sombras y fase del cultivo.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4280C-0913-4C83-BE25-0BC1B1F5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9FADB-61D6-4193-A245-A65ACBC1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Confirmar el indicio mediante observaciones de campo.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B08F1-1FA6-4FC1-A2D4-8D006F09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CF284-FDE6-4906-831F-211D5F9F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Registrar fecha, parcela y condiciones.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80FCC-699D-41D1-8E0B-93D80E58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M01 · R13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F8F34-0FD4-41E9-8309-3E869136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912688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15C09-5CA5-4942-AE05-493DAA77BC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10d82936549c8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E1E37-5437-45D8-8226-E3157EAF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90–93 MIN  /  MALEZAS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DCAB5-F28E-4671-B859-40A018C2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Malezas en pasturas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2503D-B1FA-40CB-BCC8-3101C77D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0A76D-5C85-43B8-917F-950CD245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10248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Targeted Operations del cuaderno oficial.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1C8CB-0EC4-4085-A852-E4DC52C7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A99C3-2393-452B-8FBF-2AD45F42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10248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Pastura australiana con zarzamora. XAG M500 RGB.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98357-1DD3-494E-A14F-7F2BADEF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481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C47C7-3434-4C75-B6DF-9F925879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48175"/>
            <a:ext cx="10248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La clasificación busca áreas visualmente similares.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1E2E7-3247-492F-AC12-7361ECCC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M01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DF150-C171-49FA-A2CB-06C4D715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150830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D1925-04D3-4270-A4A5-33E86CD5B2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5c342c17742af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7936A-1CD1-4647-822D-E1A2770A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93–101 MIN  /  MALEZAS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855AA-19E6-428F-A394-CBF33BD6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Magic Tool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43162-453C-417C-9A0D-FADFB769B6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d0f291fb64e6d"/>
          <a:stretch xmlns:a="http://schemas.openxmlformats.org/drawingml/2006/main"/>
        </p:blipFill>
        <p:spPr>
          <a:xfrm xmlns:a="http://schemas.openxmlformats.org/drawingml/2006/main">
            <a:off x="691251" y="2000250"/>
            <a:ext cx="1970297" cy="37147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69BC5-68DD-4B9A-8718-C9AFF5FAEF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25a2386bc451b"/>
          <a:stretch xmlns:a="http://schemas.openxmlformats.org/drawingml/2006/main"/>
        </p:blipFill>
        <p:spPr>
          <a:xfrm xmlns:a="http://schemas.openxmlformats.org/drawingml/2006/main">
            <a:off x="3406856" y="2000250"/>
            <a:ext cx="1758788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62C6B-1FB0-458C-8707-7A97F165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B50F1-F115-4FE5-A717-598B9FE8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47875"/>
            <a:ext cx="4819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Definir límite y obstáculos.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42E2D-A680-429B-AEBB-5DC7CFDA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18F9A-BED1-4307-B112-702DEE53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81325"/>
            <a:ext cx="4819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Marcar Wanted y Not wanted.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2D8FD-25B0-4606-B785-A71C4610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14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DAEDC-80FD-4339-B983-950E3303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14775"/>
            <a:ext cx="4819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Revisar falsos positivos y omisiones.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ED920-F637-45B8-B9CE-9A957A46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482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A4F73-3D2F-4E97-AC28-7D7C5412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48225"/>
            <a:ext cx="4819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Corregir antes de crear la operación.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B18E7-1618-4058-90A4-5E6F97D1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Capturas oficiales R11 · Herramientas de etiquetado y corrección.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E69BC-39B5-4F16-A8EE-73CC0EC5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R11 · M01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16379-D12A-4A5A-B734-365B147C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678538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2CFB4-E891-4A9C-B1AA-77667438E0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a1a5023ac4d35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882E5-930A-416C-8312-3DF15C58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101–105 MIN  /  MALEZAS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7874C-FC7D-4AC0-AA39-4FD1D42E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Mapa de operación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324C9-8BFD-47D8-A258-28784BA0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013E0-2986-4C9C-A4AF-932C913C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Separar actuación y exclusión.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0BE72-A63B-4ADA-A0BD-D1599767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5D8D3-7B10-4702-A81C-BA69671E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Revisar tamaño de celda y bordes.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2AFAC-1E57-44C6-87AF-B2685FAC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FF907-993B-4D6E-9DCB-413AAC1F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Comprobar licencia, formato y terminal.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DD331-707C-4594-A69F-D19D4D15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5135E-6250-4CDC-8082-227DB9F6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Esta demostración no prescribe agroquímicos.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3136C-0502-4D90-9D25-3ED95A1C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R06 · R16 · R17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23902-E08B-4E28-89C1-8497A621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297647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D2DF2-E266-4EF6-B281-872C25FA08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9cb69bffc42e9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A9DD9-71B1-4D5E-876F-011E947A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105–115 MIN  /  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EFA59-CCD8-426B-B41A-1DD61394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Decisiones de administración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D1805-B695-4F7B-A98C-6CED7988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E91CC-9191-4AC0-AEE4-B7809F32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2407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Definir el problema y el costo de comprobarlo.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103B5-E08E-4D1D-BC07-E687595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ECE4D-70F5-4F64-A04D-C8611A3E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Priorizar inspecciones con evidencia trazable.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345C0-E577-490F-BDC0-2CAAC302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90BE6-74EA-4C47-93D7-EE5D41EC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Comparar costo del servicio y beneficio medido.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B9740-BF43-4E7B-BD4C-00DC1BE4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BB0C7-AFAC-40A5-B86E-9FF76925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0248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2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Asignar responsable y revisar la decisión.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0A17A-1A8C-4445-B211-E37DF129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R01 · R19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E42E2-ADBE-4396-9C29-E2B1F8D8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489480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45761-37DF-4FBF-81CC-627728F3EF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08b135f1b4b63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88C0B-8010-4560-A570-B60DBA00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115–118 MIN  /  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6D250-D70F-45D7-9E5F-79AB5EB6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Propuesta de curso formal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E5A77-C0B5-464F-9BD9-AFB1BF1B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7146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4A017-A9E9-4DE5-98A4-F0E8EF74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720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C3D72-D356-45C8-AC4D-12FECB0C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HORAS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02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PROPUESTAS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F6809-8307-48B4-993B-393C9A9E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500C0-D300-43C0-88E3-678F7E25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71056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Drones y tecnologías geoespaciales aplicadas a la agroindustria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552D4-2CEF-43F3-9D11-E9F6F52F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813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4F3D7-8D6B-439C-A3DF-C612B7A7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81375"/>
            <a:ext cx="71056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Prácticas, interpretación y proyecto aplicado.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69E8E-B50E-437B-A31B-6658E271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275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4619A-94B0-4974-B64E-33E57F97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72000"/>
            <a:ext cx="71056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Programa sujeto a validación de la UTN.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B32FA-15E9-4C2E-B0DD-040819B0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506B78"/>
                </a:solidFill>
                <a:latin typeface="Fira Sans"/>
                <a:ea typeface="Fira Sans"/>
                <a:cs typeface="Fira Sans"/>
              </a:rPr>
              <a:t>UTN · Administración Agroindustrial  |  R01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6D7CE-651C-4BCA-BBBA-9A73A32A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789240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64C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73F7D-F9B8-4292-BA74-B1FF08E2D1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74d0819c34fd6"/>
          <a:stretch xmlns:a="http://schemas.openxmlformats.org/drawingml/2006/main"/>
        </p:blipFill>
        <p:spPr>
          <a:xfrm xmlns:a="http://schemas.openxmlformats.org/drawingml/2006/main">
            <a:off x="9715500" y="571500"/>
            <a:ext cx="1905000" cy="659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A8E61-E854-4417-8299-2D0871DF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20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118–120 MIN  /  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81DC3-062E-4234-A0C0-9E7955B3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Cierre y preguntas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C74B7-56E6-4C8D-A9FB-9AFD301E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¿Qué decisión de su actividad necesita un mapa?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BA1E3-E9F0-4478-A7A6-82E30CD2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Defina el producto, su comprobación y el responsable.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80D80-C04C-43D8-8C0A-E799A6FD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4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Programa, guías y referencias en el sitio.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73E2E-72DD-43B6-8CE2-8A301B0F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210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agroint.co.cr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C6D36-B271-40BE-81B1-BF669F4F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D1E0E6"/>
                </a:solidFill>
                <a:latin typeface="Fira Sans"/>
                <a:ea typeface="Fira Sans"/>
                <a:cs typeface="Fira Sans"/>
              </a:rPr>
              <a:t>UTN · Administración Agroindustrial  |  R01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31009-F936-4E87-BB22-C53D6F5D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DAB055"/>
                </a:solidFill>
                <a:latin typeface="Fira Sans"/>
                <a:ea typeface="Fira Sans"/>
                <a:cs typeface="Fira San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04496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2026-10-18T20:48:32.2420000Z</dcterms:created>
  <dcterms:modified xsi:type="dcterms:W3CDTF">2026-10-18T20:48:32.2420000Z</dcterms:modified>
</coreProperties>
</file>